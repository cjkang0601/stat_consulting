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3937D-F1E0-4E83-BE71-2A48FD6D9FD1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496DD-1730-490A-9A91-290474624F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17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可以看到在年末的聖誕季節過後買氣都會有斷層式的下降。這是可以預期到的，另外這種斷層式的關係就很適合用 </a:t>
            </a:r>
            <a:r>
              <a:rPr lang="en-US" altLang="zh-TW" dirty="0"/>
              <a:t>fused lasso </a:t>
            </a:r>
            <a:r>
              <a:rPr lang="zh-TW" altLang="en-US" dirty="0"/>
              <a:t>。因為他會把相近的 </a:t>
            </a:r>
            <a:r>
              <a:rPr lang="en-US" altLang="zh-TW" dirty="0"/>
              <a:t>group </a:t>
            </a:r>
            <a:r>
              <a:rPr lang="zh-TW" altLang="en-US" dirty="0"/>
              <a:t>起來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496DD-1730-490A-9A91-290474624F2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56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4CF94-CCAD-2F3C-67F4-E3731746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6B87E17-5756-E5C8-CC91-43934637C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29BB4F0-B990-820A-8E6F-0DBF518B8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7A20FF-81B5-C76A-4227-C6C3B8DD7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496DD-1730-490A-9A91-290474624F2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287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E43A-B48D-B8BC-C937-FA48F2F9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70228E-8711-54B3-7EC1-11E48CB98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E0DE7CA-B3B9-2267-67A3-8D77DAE46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DC7164-57AA-F30A-F562-1DF75E715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496DD-1730-490A-9A91-290474624F2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154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34E35-1466-2E83-E33A-1BB49D9FC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08EA5B-16D7-3FEB-C50A-0C4CEA7C9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EF975E-5CEB-942F-AC9D-4DAFFAE4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6C7E5C-B251-B219-3691-DD5A7A35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8A8776-6D1B-1B50-20EA-2EDD50EB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23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05190-E9C8-74F1-FA52-AACA98BF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D2984E-1D75-BD90-27BE-600C4C27A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59DAC2-62EC-C89C-D85A-57C1519AB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B8C556-D6A7-B36D-D622-D138DF5B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CE00A4-FC24-5E44-D786-83B0E739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73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060C49-6101-B271-BE99-52335894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68A0C1-4421-551C-D595-4ABC2007E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0E1FDE-3892-2722-D8C4-053B5FDE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090677-93BC-9E91-5ACF-20D83FCD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26827F-26BE-98D8-A205-B35823AC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08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CF4304-430A-12D0-7E53-F508DDC6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32252C-8869-BFBA-05ED-581CAF6DA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B7A379-D765-B87F-7DE6-BE574A0FB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C37AE4-A3FA-6996-1896-A8A4621C4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6C820D-245A-C148-7158-6F2C0688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B424C9-6418-664D-44E7-1991E3B1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59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80B73-0D98-93E5-3FC3-1872806F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477261-91EA-DF9B-9499-C9E956504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431638-037E-D3B5-78A4-8C9E3B578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487E26B-3760-3E32-A117-2667F957F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6B6D95C-CE8F-97F0-457A-AE07B41F3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04759D4-09AC-86CF-D732-B58AB55E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AA34BBC-5744-18CA-17A5-9BB7813A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C8455DE-6D51-3F25-72C5-93B2DB57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93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375B80-D10C-1F52-C9DA-F5C26872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76E83DD-3A66-81C6-7878-279436F21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0CCD26-2BB3-54AE-FC83-7B2F2C01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9FC41E-C79F-085A-9D35-A2E83A59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24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177A46-EAA9-6BD4-0409-B172EE75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49E9F9-33BC-2F5A-9B63-4705CF04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43783E-F4B0-39D7-C603-467DA16B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0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64A33D-2773-6871-FF7B-6E5A0CB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46C6B-C2DE-5EAE-621C-BDB6E4F5F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831347E-CC36-DA27-43E5-8691D2F81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D96837-DB8E-259C-A5A5-95BCC8D30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9F84AA6-387F-758A-A97C-0A2DD1BF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683876-AC18-CC5D-B69C-7A5AC084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0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4EA5C6-D341-CDD9-7E53-9FA6B070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58E05F-3CB3-D594-84C0-5C99BE6A8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39EAFF-733B-56FE-36A0-D4BF1AB32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227ABE-C385-4B99-C877-E5ABC24A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05072E-B40B-4819-8404-3128D25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2C9EFBE-8A82-E116-1949-4AF1195F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219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1EC5C7-7CFC-B361-7591-5C938CB11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A6F94D6-7363-89B3-CCB6-A632F361B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4FB51F-CC2C-644F-7A44-241616DB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699C94-6986-8F1C-28FE-09F7526B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798D09-C347-7677-C7A4-7CA9D611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55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F300885-ABC3-9706-017C-3359AD2E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018C3E7-20A4-5E02-2A59-8C0217B28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369060-5834-53FA-D0C4-0FFE95E6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4CA4D2-E768-112A-08F4-60FE4FB3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21A100-7A3D-8800-8B83-19756DCD9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10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82BBC96-40B5-FB57-478A-0D6A8350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AB351F-776A-299B-85E2-E6B812BE4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83C981-DE76-A823-B6A7-3209822BE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DB2DA-5B26-4678-9A64-F3A82AAF311B}" type="datetimeFigureOut">
              <a:rPr lang="zh-TW" altLang="en-US" smtClean="0"/>
              <a:t>2025/12/7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5221F4-0D96-6DB5-870F-DC1D4301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43E13D-21EA-5A7E-FBFF-661DB3285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F79D3-927C-4EF1-AA2C-9B93C9FDF6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42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AA939F-7239-DBA9-4E2F-2CD33BA0F5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Fused Lasso </a:t>
            </a:r>
            <a:b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Final Project Meeting I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CDA6BF-2BAE-BE9A-FB71-7997A5F38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Cheng-Jun Kang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Advisor: Chi-Shian Dai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12/08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成功大學統計諮詢中心暨成大醫院巨量科學中心— viewer">
            <a:extLst>
              <a:ext uri="{FF2B5EF4-FFF2-40B4-BE49-F238E27FC236}">
                <a16:creationId xmlns:a16="http://schemas.microsoft.com/office/drawing/2014/main" id="{82666D5A-51D0-2FE6-A4F0-29B2EEC81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33925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62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D6E05-FCEC-FD9C-BD93-C6BE7353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</a:t>
            </a:r>
            <a:r>
              <a:rPr lang="en-US" altLang="zh-TW" dirty="0"/>
              <a:t>	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3EDECD-9CBA-0689-7AF3-C5E459979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the Methodology on a Different Dataset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93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65C8E-4F1B-25CC-5564-2D15D777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EEB280-E567-18D1-460D-EE9A784B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</a:t>
            </a:r>
            <a:r>
              <a:rPr lang="en-US" altLang="zh-TW" dirty="0"/>
              <a:t>	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C7F072-861E-6B05-00B4-BC2264DA4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of Lasso and Fused Lasso simulation experiment.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D362EE0-9F89-7974-2D3C-6C518736BF15}"/>
                  </a:ext>
                </a:extLst>
              </p:cNvPr>
              <p:cNvSpPr txBox="1"/>
              <p:nvPr/>
            </p:nvSpPr>
            <p:spPr>
              <a:xfrm>
                <a:off x="2687667" y="5988734"/>
                <a:ext cx="7608301" cy="707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 1. Simulated example, with p=100 predictors having coefficients shown by the black lines: </a:t>
                </a:r>
              </a:p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(left)</a:t>
                </a:r>
                <a:r>
                  <a:rPr lang="zh-TW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lasso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solution (red), using </a:t>
                </a:r>
                <a:r>
                  <a:rPr lang="en-US" altLang="zh-TW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 = 35.6 and s2 = ∞ 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  <a:p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(right) the </a:t>
                </a:r>
                <a:r>
                  <a:rPr lang="en-US" altLang="zh-TW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fused lasso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b="1" i="1" dirty="0" err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altLang="zh-TW" sz="1200" b="1" i="1" dirty="0" err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TW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en-US" altLang="zh-TW" sz="1200" b="1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altLang="zh-TW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 </m:t>
                    </m:r>
                    <m:sSub>
                      <m:sSubPr>
                        <m:ctrlP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TW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TW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200" b="1" i="1" dirty="0" err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altLang="zh-TW" sz="1200" b="1" i="1" dirty="0" err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12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1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altLang="zh-TW" sz="1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  <m:r>
                                  <a:rPr lang="en-US" altLang="zh-TW" sz="1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β is the true set of coefficients.[1]    </a:t>
                </a:r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D362EE0-9F89-7974-2D3C-6C518736B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667" y="5988734"/>
                <a:ext cx="7608301" cy="707181"/>
              </a:xfrm>
              <a:prstGeom prst="rect">
                <a:avLst/>
              </a:prstGeom>
              <a:blipFill>
                <a:blip r:embed="rId2"/>
                <a:stretch>
                  <a:fillRect l="-80" b="-5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35FC8678-C7F1-DF5A-AB41-631AAC7CD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294" y="2471950"/>
            <a:ext cx="2876951" cy="338184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3EB7187-0698-94F1-C60C-587F61C7C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148" y="2452897"/>
            <a:ext cx="2600688" cy="34009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A93573D-61D2-92F9-90D3-0119D3E4421A}"/>
              </a:ext>
            </a:extLst>
          </p:cNvPr>
          <p:cNvSpPr txBox="1"/>
          <p:nvPr/>
        </p:nvSpPr>
        <p:spPr>
          <a:xfrm>
            <a:off x="0" y="6604084"/>
            <a:ext cx="122625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altLang="zh-TW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Saunders, M., Rosset, S., Zhu, J., &amp; Knight, K. (2005). Sparsity and smoothness via the fused lasso. Journal of the Royal Statistical Society Series B: Statistical Methodology, 67(1), 91-108.    </a:t>
            </a:r>
            <a:endParaRPr lang="zh-TW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4442CCB-5B7C-516D-9CFB-04C190C24F2D}"/>
                  </a:ext>
                </a:extLst>
              </p:cNvPr>
              <p:cNvSpPr txBox="1"/>
              <p:nvPr/>
            </p:nvSpPr>
            <p:spPr>
              <a:xfrm>
                <a:off x="-96252" y="3099022"/>
                <a:ext cx="3272589" cy="644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1050" b="1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05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05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050" b="1" i="1" smtClean="0">
                                              <a:latin typeface="Cambria Math" panose="02040503050406030204" pitchFamily="18" charset="0"/>
                                            </a:rPr>
                                            <m:t>𝒊𝒋</m:t>
                                          </m:r>
                                        </m:sub>
                                      </m:sSub>
                                    </m:e>
                                  </m:nary>
                                  <m:sSub>
                                    <m:sSubPr>
                                      <m:ctrlP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105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4442CCB-5B7C-516D-9CFB-04C190C24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252" y="3099022"/>
                <a:ext cx="3272589" cy="6444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E9940C8-5976-65DD-ED99-D14627A034E1}"/>
                  </a:ext>
                </a:extLst>
              </p:cNvPr>
              <p:cNvSpPr txBox="1"/>
              <p:nvPr/>
            </p:nvSpPr>
            <p:spPr>
              <a:xfrm>
                <a:off x="838200" y="3878366"/>
                <a:ext cx="1289776" cy="461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subject</m:t>
                      </m:r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E9940C8-5976-65DD-ED99-D14627A03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78366"/>
                <a:ext cx="1289776" cy="461152"/>
              </a:xfrm>
              <a:prstGeom prst="rect">
                <a:avLst/>
              </a:prstGeom>
              <a:blipFill>
                <a:blip r:embed="rId6"/>
                <a:stretch>
                  <a:fillRect l="-3318" t="-117105" r="-41706" b="-17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E21F33D-6D91-9C15-49F1-B49D57DFC37B}"/>
                  </a:ext>
                </a:extLst>
              </p:cNvPr>
              <p:cNvSpPr txBox="1"/>
              <p:nvPr/>
            </p:nvSpPr>
            <p:spPr>
              <a:xfrm>
                <a:off x="8916393" y="3187186"/>
                <a:ext cx="2064027" cy="5562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1050" b="1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05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05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050" b="1" i="1" smtClean="0">
                                              <a:latin typeface="Cambria Math" panose="02040503050406030204" pitchFamily="18" charset="0"/>
                                            </a:rPr>
                                            <m:t>𝒊𝒋</m:t>
                                          </m:r>
                                        </m:sub>
                                      </m:sSub>
                                    </m:e>
                                  </m:nary>
                                  <m:sSub>
                                    <m:sSubPr>
                                      <m:ctrlP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n-US" altLang="zh-TW" sz="1050" b="1" i="1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E21F33D-6D91-9C15-49F1-B49D57DFC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393" y="3187186"/>
                <a:ext cx="2064027" cy="556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C01A754-D44C-B9C3-DDDA-A68362241B34}"/>
                  </a:ext>
                </a:extLst>
              </p:cNvPr>
              <p:cNvSpPr txBox="1"/>
              <p:nvPr/>
            </p:nvSpPr>
            <p:spPr>
              <a:xfrm>
                <a:off x="8728506" y="3917676"/>
                <a:ext cx="3000821" cy="461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subject</m:t>
                      </m:r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altLang="zh-TW" sz="1050" b="1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 </m:t>
                      </m:r>
                      <m:nary>
                        <m:naryPr>
                          <m:chr m:val="∑"/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TW" sz="105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05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1050" b="1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TW" sz="105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C01A754-D44C-B9C3-DDDA-A68362241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506" y="3917676"/>
                <a:ext cx="3000821" cy="461152"/>
              </a:xfrm>
              <a:prstGeom prst="rect">
                <a:avLst/>
              </a:prstGeom>
              <a:blipFill>
                <a:blip r:embed="rId8"/>
                <a:stretch>
                  <a:fillRect l="-1220" t="-120000" r="-1220" b="-17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00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1D460-5059-D8B4-A101-A322F134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9F13E3-6A7A-32B0-CF76-482BA383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Results </a:t>
            </a:r>
            <a:r>
              <a:rPr lang="en-US" altLang="zh-TW" dirty="0"/>
              <a:t>	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94B9FD-C902-3F9E-8FD0-F50E48352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F02CFCA-4EDF-29FD-550C-E4CC9301DB79}"/>
              </a:ext>
            </a:extLst>
          </p:cNvPr>
          <p:cNvSpPr txBox="1"/>
          <p:nvPr/>
        </p:nvSpPr>
        <p:spPr>
          <a:xfrm>
            <a:off x="2687667" y="5988734"/>
            <a:ext cx="8257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 Replication of Simulated example, with </a:t>
            </a:r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N=20, p=100, sigma=0.75  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predictors having coefficients shown by the black lines:</a:t>
            </a:r>
          </a:p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(left) Lasso (right) Fused lasso. </a:t>
            </a:r>
          </a:p>
        </p:txBody>
      </p:sp>
      <p:pic>
        <p:nvPicPr>
          <p:cNvPr id="9" name="圖片 8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E7C58DEE-6F3E-5E0C-FBAB-0C9F04FB6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600" y="2107180"/>
            <a:ext cx="5760000" cy="3600000"/>
          </a:xfrm>
          <a:prstGeom prst="rect">
            <a:avLst/>
          </a:prstGeom>
        </p:spPr>
      </p:pic>
      <p:pic>
        <p:nvPicPr>
          <p:cNvPr id="13" name="圖片 12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7AF59F22-C2B4-B923-BD0A-8A067A5F9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3" y="2107180"/>
            <a:ext cx="576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1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84DC-62DF-D9DC-A472-402D2045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AD1ADB-AE1C-088D-E9DA-E0E1E87A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on Different 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/>
              <a:t>Store Sales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4B92CD-F558-3D48-5421-E143A4F1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 Predict sales for the thousands of product families sold at Favorita stores located in Ecuador. The training data includes dates, store and product information. [2]</a:t>
            </a:r>
          </a:p>
        </p:txBody>
      </p:sp>
      <p:pic>
        <p:nvPicPr>
          <p:cNvPr id="7" name="圖片 6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27A70EB2-3EF2-9AE4-B4E6-2192F5AFC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331" y="2752873"/>
            <a:ext cx="6233337" cy="374000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375229E-C711-0803-5C22-937A71477F7B}"/>
              </a:ext>
            </a:extLst>
          </p:cNvPr>
          <p:cNvSpPr txBox="1"/>
          <p:nvPr/>
        </p:nvSpPr>
        <p:spPr>
          <a:xfrm>
            <a:off x="4542945" y="6409980"/>
            <a:ext cx="4088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 </a:t>
            </a:r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Daily Sales Over Time 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(2013-01-01~2017-08-15)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9F365A7-0B70-5777-DCD3-BDAA0713B356}"/>
              </a:ext>
            </a:extLst>
          </p:cNvPr>
          <p:cNvSpPr txBox="1"/>
          <p:nvPr/>
        </p:nvSpPr>
        <p:spPr>
          <a:xfrm>
            <a:off x="0" y="6604084"/>
            <a:ext cx="122625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https://www.kaggle.com/competitions/store-sales-time-series-forecasting/data</a:t>
            </a:r>
            <a:endParaRPr lang="zh-TW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11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1D59-E273-E513-A609-AEBBB1D5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AC4FA-FDAE-187E-9535-67783C71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on Different 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/>
              <a:t>Store Sales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271002E-9C36-D079-2D54-391D569F4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84387" y="2178209"/>
            <a:ext cx="6176889" cy="323118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E7B9DF8-45C6-18F3-9D01-AFDBAAD992AA}"/>
              </a:ext>
            </a:extLst>
          </p:cNvPr>
          <p:cNvSpPr txBox="1"/>
          <p:nvPr/>
        </p:nvSpPr>
        <p:spPr>
          <a:xfrm>
            <a:off x="2181659" y="5477046"/>
            <a:ext cx="8146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 The left plot shows the </a:t>
            </a:r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best-selling products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right plot shows the </a:t>
            </a:r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distribution by day of the week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3B265D2-1DBD-F8C5-4543-E445BF646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5858"/>
            <a:ext cx="5884387" cy="316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04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3320-6BAB-CF7E-9433-6EEF7E25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6C530-6652-3BB2-6CFF-EE64A894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on Different  Dataset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/>
              <a:t>Store Sales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A9318E-82AC-A288-4E41-86ADA0A2E37C}"/>
              </a:ext>
            </a:extLst>
          </p:cNvPr>
          <p:cNvSpPr txBox="1"/>
          <p:nvPr/>
        </p:nvSpPr>
        <p:spPr>
          <a:xfrm>
            <a:off x="4542945" y="6581001"/>
            <a:ext cx="3188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 </a:t>
            </a:r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Daily Sales Over Time 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(All Stores)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E643C8-BFF5-670F-7D97-8D52E468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21" y="1690688"/>
            <a:ext cx="9198554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6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A7A7-DFCC-A60A-C2D7-62CCB2F3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7A311E-6B6E-6EAD-9C4A-BBF63A7B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FBCA31-428C-E825-0673-49A42E2DC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Cross-Validation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 Decomposition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Fused Lasso(Neighboring stores or similar products)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7753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AED0A6-B35F-6298-1882-812699E14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FB21C7C-FF14-2B91-7852-AD1BC8032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any Questions?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335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2217</TotalTime>
  <Words>420</Words>
  <Application>Microsoft Office PowerPoint</Application>
  <PresentationFormat>寬螢幕</PresentationFormat>
  <Paragraphs>44</Paragraphs>
  <Slides>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Times New Roman</vt:lpstr>
      <vt:lpstr>Office 佈景主題</vt:lpstr>
      <vt:lpstr>Fused Lasso  Final Project Meeting I</vt:lpstr>
      <vt:lpstr>Outline  </vt:lpstr>
      <vt:lpstr>Current Progress  </vt:lpstr>
      <vt:lpstr>Replicate Results  </vt:lpstr>
      <vt:lpstr>Replicate on Different  Dataset (Store Sales)</vt:lpstr>
      <vt:lpstr>Replicate on Different  Dataset (Store Sales)</vt:lpstr>
      <vt:lpstr>Replicate on Different  Dataset (Store Sales)</vt:lpstr>
      <vt:lpstr>Future Work</vt:lpstr>
      <vt:lpstr>Thanks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成駿 康</dc:creator>
  <cp:lastModifiedBy>成駿 康</cp:lastModifiedBy>
  <cp:revision>8</cp:revision>
  <dcterms:created xsi:type="dcterms:W3CDTF">2025-12-05T17:50:21Z</dcterms:created>
  <dcterms:modified xsi:type="dcterms:W3CDTF">2025-12-07T15:46:01Z</dcterms:modified>
</cp:coreProperties>
</file>